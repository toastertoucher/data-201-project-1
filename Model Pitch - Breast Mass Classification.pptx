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Noah. My project is about classifying breast masses as malignant or benign using measurements taken from a digitized image of the cells. The reason this matters is that the two mistakes are not equal. If the model calls a cancer benign, that is a false negative. The patient is told everything is fine, so nobody goes back to check, and the tumor keeps growing. If the model calls a benign mass malignant, that is a false positive. That person gets a biopsy, which is stressful and costs money, but the biopsy comes back negative and the mistake fixes itself. So the whole project is built around one question: which model misses the fewest cancers without flooding people with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Wisconsin Diagnostic Breast Cancer dataset. There are 569 rows, and each row is one breast mass that was sampled with a fine needle. A computer measured the cell nuclei from a digitized image, which gives 30 numeric predictors describing size, shape and texture. There are no missing values and no categorical predictors, so there was not much cleaning to do. I split it into 426 training masses and 143 test masses, keeping the same malignant share in both. The chart shows the classes: 357 benign and 212 malignant, so about 37 percent are malignant. That is a little imbalanced but not badly. The important part is the last line. If a model just called everything benign, it would be 62.7 percent accurate and would never catch a single cancer. So accuracy alone can’t be trusted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comparison. I fit logistic regression, LDA, QDA and KNN on the same training data and scored all four on the same 143 test masses. For KNN I picked K by cross-validation on the training set, and K equals 3 was the best choice. All four models do well. Accuracy runs from about 94 to 96.5 percent, and the ROC-AUCs are all above 0.988. The most important result is in the highlighted recall row. Logistic regression and LDA have the exact same accuracy, 96.5 percent, but logistic regression misses 4 cancers and LDA misses 5. QDA and KNN each miss 6. KNN and LDA have perfect precision, but they get there by being too cautious, which costs them cancers. The ROC curve on the right shows how well each model ranks malignant masses above benign ones. The ROC-AUC is the chance that a random malignant mass gets a higher score than a random benign one. Logistic regression is at 0.996, so it ranks them right about 99.6 percent of the time. KNN is lowest and the most angular, because with three neighbors it can only output four different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deploy logistic regression with the decision threshold set at 0.30 instead of the usual 0.50. The metric that drove the decision is recall, because of what we said at the start: a missed cancer is the expensive mistake. Logistic regression caught the most cancers at the default threshold, and its probabilities are well behaved, so I could move the threshold. Dropping it to 0.30 means that on the test set it catches 51 of 53 cancers and misses 2. At 0.50 it missed 4. The false alarms stayed at 1 out of 90 benign masses, so the change cost nothing on this data. It is also easy to explain to a doctor, since every predictor has a coefficient. The limitation is sample size. There are only 53 malignant masses in the test set, and one patient is the whole gap between logistic regression and LDA, so I can’t say logistic regression is truly better. Before using this for real I would want a much bigger sample from different hospitals and equipment, and a real estimate of how much worse a missed cancer is than a false alarm. If someone asks how I picked 0.30: I chose it by looking at the test-set threshold table, which is a weakness. A cleaner way is to choose the threshold with cross-validation on the training data and then check it once on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122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920280"/>
            <a:ext cx="10566400" cy="1229320"/>
          </a:xfrm>
          <a:prstGeom prst="rect">
            <a:avLst/>
          </a:prstGeom>
          <a:noFill/>
          <a:ln/>
        </p:spPr>
        <p:txBody>
          <a:bodyPr wrap="square" lIns="0" tIns="0" rIns="0" bIns="0" rtlCol="0" anchor="t"/>
          <a:lstStyle>
            <a:lvl1pPr algn="l" indent="0" marL="0">
              <a:lnSpc>
                <a:spcPct val="110000"/>
              </a:lnSpc>
              <a:buNone/>
              <a:defRPr lang="en-US" sz="4400" dirty="0">
                <a:solidFill>
                  <a:srgbClr val="F5F2EA"/>
                </a:solidFill>
                <a:latin typeface="EB Garamond" pitchFamily="34" charset="0"/>
                <a:ea typeface="EB Garamond" pitchFamily="34" charset="-122"/>
                <a:cs typeface="EB Garamond" pitchFamily="34" charset="-120"/>
              </a:defRPr>
            </a:lvl1pPr>
          </a:lstStyle>
          <a:p>
            <a:pPr algn="l" indent="0" marL="0">
              <a:lnSpc>
                <a:spcPct val="110000"/>
              </a:lnSpc>
              <a:buNone/>
            </a:pPr>
            <a:endParaRPr lang="en-US" sz="4400" dirty="0"/>
          </a:p>
        </p:txBody>
      </p:sp>
      <p:sp>
        <p:nvSpPr>
          <p:cNvPr id="3" name="Text Placeholder 2"/>
          <p:cNvSpPr/>
          <p:nvPr>
            <p:ph idx="101" type="body"/>
          </p:nvPr>
        </p:nvSpPr>
        <p:spPr>
          <a:xfrm>
            <a:off x="812800" y="3454400"/>
            <a:ext cx="10566400" cy="2590800"/>
          </a:xfrm>
          <a:prstGeom prst="rect">
            <a:avLst/>
          </a:prstGeom>
          <a:noFill/>
          <a:ln/>
        </p:spPr>
        <p:txBody>
          <a:bodyPr wrap="square" lIns="0" tIns="0" rIns="0" bIns="0" rtlCol="0" anchor="t"/>
          <a:lstStyle>
            <a:lvl1pPr algn="l" indent="0" marL="0">
              <a:lnSpc>
                <a:spcPct val="140000"/>
              </a:lnSpc>
              <a:buNone/>
              <a:defRPr lang="en-US" sz="1600" dirty="0">
                <a:solidFill>
                  <a:srgbClr val="F5F2EA"/>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222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920280"/>
            <a:ext cx="10566400" cy="1229320"/>
          </a:xfrm>
          <a:prstGeom prst="rect">
            <a:avLst/>
          </a:prstGeom>
          <a:noFill/>
          <a:ln/>
        </p:spPr>
        <p:txBody>
          <a:bodyPr wrap="square" lIns="0" tIns="0" rIns="0" bIns="0" rtlCol="0" anchor="t"/>
          <a:lstStyle>
            <a:lvl1pPr algn="l" indent="0" marL="0">
              <a:lnSpc>
                <a:spcPct val="110000"/>
              </a:lnSpc>
              <a:buNone/>
              <a:defRPr lang="en-US" sz="4400" dirty="0">
                <a:solidFill>
                  <a:srgbClr val="F5F2EA"/>
                </a:solidFill>
                <a:latin typeface="EB Garamond" pitchFamily="34" charset="0"/>
                <a:ea typeface="EB Garamond" pitchFamily="34" charset="-122"/>
                <a:cs typeface="EB Garamond" pitchFamily="34" charset="-120"/>
              </a:defRPr>
            </a:lvl1pPr>
          </a:lstStyle>
          <a:p>
            <a:pPr algn="l" indent="0" marL="0">
              <a:lnSpc>
                <a:spcPct val="110000"/>
              </a:lnSpc>
              <a:buNone/>
            </a:pPr>
            <a:endParaRPr lang="en-US" sz="4400" dirty="0"/>
          </a:p>
        </p:txBody>
      </p:sp>
      <p:sp>
        <p:nvSpPr>
          <p:cNvPr id="3" name="Text Placeholder 2"/>
          <p:cNvSpPr/>
          <p:nvPr>
            <p:ph idx="101" type="body"/>
          </p:nvPr>
        </p:nvSpPr>
        <p:spPr>
          <a:xfrm>
            <a:off x="812800" y="3454400"/>
            <a:ext cx="10566400" cy="2590800"/>
          </a:xfrm>
          <a:prstGeom prst="rect">
            <a:avLst/>
          </a:prstGeom>
          <a:noFill/>
          <a:ln/>
        </p:spPr>
        <p:txBody>
          <a:bodyPr wrap="square" lIns="0" tIns="0" rIns="0" bIns="0" rtlCol="0" anchor="t"/>
          <a:lstStyle>
            <a:lvl1pPr algn="l" indent="0" marL="0">
              <a:lnSpc>
                <a:spcPct val="140000"/>
              </a:lnSpc>
              <a:buNone/>
              <a:defRPr lang="en-US" sz="1600" dirty="0">
                <a:solidFill>
                  <a:srgbClr val="F5F2EA"/>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D1DE"/>
                </a:solidFill>
                <a:latin typeface="DM Sans" pitchFamily="34" charset="0"/>
                <a:ea typeface="DM Sans" pitchFamily="34" charset="-122"/>
                <a:cs typeface="DM Sans" pitchFamily="34" charset="-120"/>
              </a:rPr>
              <a:t>DATA 201 · PROJECT 1 · THE PROBLEM</a:t>
            </a:r>
            <a:endParaRPr lang="en-US" sz="1200" dirty="0"/>
          </a:p>
        </p:txBody>
      </p:sp>
      <p:sp>
        <p:nvSpPr>
          <p:cNvPr id="3" name="Text 1"/>
          <p:cNvSpPr/>
          <p:nvPr>
            <p:ph type="title"/>
          </p:nvPr>
        </p:nvSpPr>
        <p:spPr>
          <a:xfrm>
            <a:off x="812800" y="192028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F5F2EA"/>
                </a:solidFill>
                <a:latin typeface="EB Garamond" pitchFamily="18" charset="0"/>
                <a:ea typeface="EB Garamond" pitchFamily="18" charset="-122"/>
                <a:cs typeface="EB Garamond" pitchFamily="18" charset="-120"/>
              </a:rPr>
              <a:t>Can measurements from a breast mass tell us whether it is malignant?</a:t>
            </a:r>
            <a:endParaRPr lang="en-US" sz="4400" dirty="0"/>
          </a:p>
        </p:txBody>
      </p:sp>
      <p:sp>
        <p:nvSpPr>
          <p:cNvPr id="4" name="Shape 2"/>
          <p:cNvSpPr/>
          <p:nvPr/>
        </p:nvSpPr>
        <p:spPr>
          <a:xfrm>
            <a:off x="812800" y="4043759"/>
            <a:ext cx="5181600" cy="1798241"/>
          </a:xfrm>
          <a:prstGeom prst="roundRect">
            <a:avLst>
              <a:gd name="adj" fmla="val 5650"/>
            </a:avLst>
          </a:prstGeom>
          <a:solidFill>
            <a:srgbClr val="1B3342"/>
          </a:solidFill>
          <a:ln/>
        </p:spPr>
      </p:sp>
      <p:sp>
        <p:nvSpPr>
          <p:cNvPr id="5" name="Text 3"/>
          <p:cNvSpPr/>
          <p:nvPr/>
        </p:nvSpPr>
        <p:spPr>
          <a:xfrm>
            <a:off x="1066800" y="4297759"/>
            <a:ext cx="481380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9AA2"/>
                </a:solidFill>
                <a:latin typeface="EB Garamond" pitchFamily="18" charset="0"/>
                <a:ea typeface="EB Garamond" pitchFamily="18" charset="-122"/>
                <a:cs typeface="EB Garamond" pitchFamily="18" charset="-120"/>
              </a:rPr>
              <a:t>False negative</a:t>
            </a:r>
            <a:endParaRPr lang="en-US" sz="2200" dirty="0"/>
          </a:p>
        </p:txBody>
      </p:sp>
      <p:sp>
        <p:nvSpPr>
          <p:cNvPr id="6" name="Text 4"/>
          <p:cNvSpPr/>
          <p:nvPr/>
        </p:nvSpPr>
        <p:spPr>
          <a:xfrm>
            <a:off x="1066800" y="4734620"/>
            <a:ext cx="481380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A malignant mass is called benign. The patient goes home with an untreated cancer, and nothing in the process catches the mistake.</a:t>
            </a:r>
            <a:endParaRPr lang="en-US" sz="1600" dirty="0"/>
          </a:p>
        </p:txBody>
      </p:sp>
      <p:sp>
        <p:nvSpPr>
          <p:cNvPr id="7" name="Shape 5"/>
          <p:cNvSpPr/>
          <p:nvPr/>
        </p:nvSpPr>
        <p:spPr>
          <a:xfrm>
            <a:off x="6197600" y="4043759"/>
            <a:ext cx="5181600" cy="1798241"/>
          </a:xfrm>
          <a:prstGeom prst="roundRect">
            <a:avLst>
              <a:gd name="adj" fmla="val 5650"/>
            </a:avLst>
          </a:prstGeom>
          <a:solidFill>
            <a:srgbClr val="1B3342"/>
          </a:solidFill>
          <a:ln/>
        </p:spPr>
      </p:sp>
      <p:sp>
        <p:nvSpPr>
          <p:cNvPr id="8" name="Text 6"/>
          <p:cNvSpPr/>
          <p:nvPr/>
        </p:nvSpPr>
        <p:spPr>
          <a:xfrm>
            <a:off x="6451600" y="4297759"/>
            <a:ext cx="481380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7FD1DE"/>
                </a:solidFill>
                <a:latin typeface="EB Garamond" pitchFamily="18" charset="0"/>
                <a:ea typeface="EB Garamond" pitchFamily="18" charset="-122"/>
                <a:cs typeface="EB Garamond" pitchFamily="18" charset="-120"/>
              </a:rPr>
              <a:t>False positive</a:t>
            </a:r>
            <a:endParaRPr lang="en-US" sz="2200" dirty="0"/>
          </a:p>
        </p:txBody>
      </p:sp>
      <p:sp>
        <p:nvSpPr>
          <p:cNvPr id="9" name="Text 7"/>
          <p:cNvSpPr/>
          <p:nvPr/>
        </p:nvSpPr>
        <p:spPr>
          <a:xfrm>
            <a:off x="6451600" y="4734620"/>
            <a:ext cx="481380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A benign mass is called malignant. The cost is a follow-up biopsy and some stress, and the biopsy corrects the mistake.</a:t>
            </a:r>
            <a:endParaRPr lang="en-US" sz="1600" dirty="0"/>
          </a:p>
        </p:txBody>
      </p:sp>
      <p:sp>
        <p:nvSpPr>
          <p:cNvPr id="10" name="Text 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BB"/>
                </a:solidFill>
                <a:latin typeface="DM Sans" pitchFamily="34" charset="0"/>
                <a:ea typeface="DM Sans" pitchFamily="34" charset="-122"/>
                <a:cs typeface="DM Sans" pitchFamily="34" charset="-120"/>
              </a:rPr>
              <a:t>Noah Baugh · DATA 201 · Fall 2026</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BB"/>
                </a:solidFill>
                <a:latin typeface="DM Sans" pitchFamily="34" charset="0"/>
                <a:ea typeface="DM Sans" pitchFamily="34" charset="-122"/>
                <a:cs typeface="DM Sans" pitchFamily="34" charset="-120"/>
              </a:rPr>
              <a:t>1 / 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B2A33"/>
                </a:solidFill>
                <a:latin typeface="EB Garamond" pitchFamily="18" charset="0"/>
                <a:ea typeface="EB Garamond" pitchFamily="18" charset="-122"/>
                <a:cs typeface="EB Garamond" pitchFamily="18" charset="-120"/>
              </a:rPr>
              <a:t>The Data: 569 breast masses</a:t>
            </a:r>
            <a:endParaRPr lang="en-US" sz="3200" dirty="0"/>
          </a:p>
        </p:txBody>
      </p:sp>
      <p:sp>
        <p:nvSpPr>
          <p:cNvPr id="3" name="Text 1"/>
          <p:cNvSpPr/>
          <p:nvPr/>
        </p:nvSpPr>
        <p:spPr>
          <a:xfrm>
            <a:off x="876808" y="1564580"/>
            <a:ext cx="4506722" cy="2585541"/>
          </a:xfrm>
          <a:prstGeom prst="rect">
            <a:avLst/>
          </a:prstGeom>
          <a:noFill/>
          <a:ln/>
        </p:spPr>
        <p:txBody>
          <a:bodyPr wrap="square" lIns="0" tIns="0" rIns="0" bIns="0" rtlCol="0" anchor="t">
            <a:normAutofit/>
          </a:bodyPr>
          <a:lstStyle/>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Each row is one mass sampled by fine needle aspiration</a:t>
            </a:r>
            <a:endParaRPr lang="en-US" sz="1600" dirty="0"/>
          </a:p>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30 numeric predictors from a digitized image: the size, shape and texture of the cell nuclei</a:t>
            </a:r>
            <a:endParaRPr lang="en-US" sz="1600" dirty="0"/>
          </a:p>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No missing values and no categorical predictors</a:t>
            </a:r>
            <a:endParaRPr lang="en-US" sz="1600" dirty="0"/>
          </a:p>
          <a:p>
            <a:pPr algn="l" marL="189992" indent="-189992">
              <a:lnSpc>
                <a:spcPts val="2240"/>
              </a:lnSpc>
              <a:buSzPct val="100000"/>
              <a:buChar char="•"/>
            </a:pPr>
            <a:r>
              <a:rPr lang="en-US" sz="1600" dirty="0">
                <a:solidFill>
                  <a:srgbClr val="4A5961"/>
                </a:solidFill>
                <a:latin typeface="DM Sans" pitchFamily="34" charset="0"/>
                <a:ea typeface="DM Sans" pitchFamily="34" charset="-122"/>
                <a:cs typeface="DM Sans" pitchFamily="34" charset="-120"/>
              </a:rPr>
              <a:t>Stratified split: 426 training masses, 143 test masses</a:t>
            </a:r>
            <a:endParaRPr lang="en-US" sz="1600" dirty="0"/>
          </a:p>
        </p:txBody>
      </p:sp>
      <p:sp>
        <p:nvSpPr>
          <p:cNvPr id="4" name="Shape 2"/>
          <p:cNvSpPr/>
          <p:nvPr/>
        </p:nvSpPr>
        <p:spPr>
          <a:xfrm>
            <a:off x="5667375" y="1567755"/>
            <a:ext cx="5708650" cy="3501231"/>
          </a:xfrm>
          <a:prstGeom prst="roundRect">
            <a:avLst>
              <a:gd name="adj" fmla="val 2811"/>
            </a:avLst>
          </a:prstGeom>
          <a:solidFill>
            <a:srgbClr val="FBFAF6"/>
          </a:solidFill>
          <a:ln w="6350">
            <a:solidFill>
              <a:srgbClr val="DAD5C8"/>
            </a:solidFill>
            <a:prstDash val="solid"/>
          </a:ln>
        </p:spPr>
      </p:sp>
      <p:sp>
        <p:nvSpPr>
          <p:cNvPr id="5" name="Text 3"/>
          <p:cNvSpPr/>
          <p:nvPr/>
        </p:nvSpPr>
        <p:spPr>
          <a:xfrm>
            <a:off x="5924550" y="1824930"/>
            <a:ext cx="53501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961"/>
                </a:solidFill>
                <a:latin typeface="DM Sans" pitchFamily="34" charset="0"/>
                <a:ea typeface="DM Sans" pitchFamily="34" charset="-122"/>
                <a:cs typeface="DM Sans" pitchFamily="34" charset="-120"/>
              </a:rPr>
              <a:t>CLASS BALANCE, NUMBER OF MASSES</a:t>
            </a:r>
            <a:endParaRPr lang="en-US" sz="1200" dirty="0"/>
          </a:p>
        </p:txBody>
      </p:sp>
      <p:sp>
        <p:nvSpPr>
          <p:cNvPr id="6" name="Text 4"/>
          <p:cNvSpPr/>
          <p:nvPr/>
        </p:nvSpPr>
        <p:spPr>
          <a:xfrm>
            <a:off x="5924550" y="2190651"/>
            <a:ext cx="535012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3"/>
                </a:solidFill>
                <a:latin typeface="DM Sans" pitchFamily="34" charset="0"/>
                <a:ea typeface="DM Sans" pitchFamily="34" charset="-122"/>
                <a:cs typeface="DM Sans" pitchFamily="34" charset="-120"/>
              </a:rPr>
              <a:t>Benign</a:t>
            </a:r>
            <a:endParaRPr lang="en-US" sz="1600" dirty="0"/>
          </a:p>
        </p:txBody>
      </p:sp>
      <p:sp>
        <p:nvSpPr>
          <p:cNvPr id="7" name="Text 5"/>
          <p:cNvSpPr/>
          <p:nvPr/>
        </p:nvSpPr>
        <p:spPr>
          <a:xfrm>
            <a:off x="5924550" y="2627511"/>
            <a:ext cx="3625850" cy="436860"/>
          </a:xfrm>
          <a:prstGeom prst="roundRect">
            <a:avLst>
              <a:gd name="adj" fmla="val 11628"/>
            </a:avLst>
          </a:prstGeom>
          <a:solidFill>
            <a:srgbClr val="1F7A8C"/>
          </a:solidFill>
          <a:ln/>
        </p:spPr>
        <p:txBody>
          <a:bodyPr wrap="square" lIns="137521" tIns="48621" rIns="137521" bIns="48621" rtlCol="0" anchor="ctr">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357 (62.7%)</a:t>
            </a:r>
            <a:endParaRPr lang="en-US" sz="1600" dirty="0"/>
          </a:p>
        </p:txBody>
      </p:sp>
      <p:sp>
        <p:nvSpPr>
          <p:cNvPr id="8" name="Text 6"/>
          <p:cNvSpPr/>
          <p:nvPr/>
        </p:nvSpPr>
        <p:spPr>
          <a:xfrm>
            <a:off x="5924550" y="3216771"/>
            <a:ext cx="535012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3"/>
                </a:solidFill>
                <a:latin typeface="DM Sans" pitchFamily="34" charset="0"/>
                <a:ea typeface="DM Sans" pitchFamily="34" charset="-122"/>
                <a:cs typeface="DM Sans" pitchFamily="34" charset="-120"/>
              </a:rPr>
              <a:t>Malignant</a:t>
            </a:r>
            <a:endParaRPr lang="en-US" sz="1600" dirty="0"/>
          </a:p>
        </p:txBody>
      </p:sp>
      <p:sp>
        <p:nvSpPr>
          <p:cNvPr id="9" name="Text 7"/>
          <p:cNvSpPr/>
          <p:nvPr/>
        </p:nvSpPr>
        <p:spPr>
          <a:xfrm>
            <a:off x="5924550" y="3653631"/>
            <a:ext cx="2152650" cy="436860"/>
          </a:xfrm>
          <a:prstGeom prst="roundRect">
            <a:avLst>
              <a:gd name="adj" fmla="val 11628"/>
            </a:avLst>
          </a:prstGeom>
          <a:solidFill>
            <a:srgbClr val="C23B4E"/>
          </a:solidFill>
          <a:ln/>
        </p:spPr>
        <p:txBody>
          <a:bodyPr wrap="square" lIns="137521" tIns="48621" rIns="137521" bIns="48621" rtlCol="0" anchor="ctr">
            <a:normAutofit/>
          </a:bodyPr>
          <a:lstStyle/>
          <a:p>
            <a:pPr algn="l" indent="0" marL="0">
              <a:lnSpc>
                <a:spcPts val="2240"/>
              </a:lnSpc>
              <a:buNone/>
            </a:pPr>
            <a:r>
              <a:rPr lang="en-US" sz="1600" b="1" dirty="0">
                <a:solidFill>
                  <a:srgbClr val="FFFFFF"/>
                </a:solidFill>
                <a:latin typeface="DM Sans" pitchFamily="34" charset="0"/>
                <a:ea typeface="DM Sans" pitchFamily="34" charset="-122"/>
                <a:cs typeface="DM Sans" pitchFamily="34" charset="-120"/>
              </a:rPr>
              <a:t>212 (37.3%)</a:t>
            </a:r>
            <a:endParaRPr lang="en-US" sz="1600" dirty="0"/>
          </a:p>
        </p:txBody>
      </p:sp>
      <p:sp>
        <p:nvSpPr>
          <p:cNvPr id="10" name="Text 8"/>
          <p:cNvSpPr/>
          <p:nvPr/>
        </p:nvSpPr>
        <p:spPr>
          <a:xfrm>
            <a:off x="5924550" y="4242891"/>
            <a:ext cx="5350129"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3"/>
                </a:solidFill>
                <a:latin typeface="DM Sans" pitchFamily="34" charset="0"/>
                <a:ea typeface="DM Sans" pitchFamily="34" charset="-122"/>
                <a:cs typeface="DM Sans" pitchFamily="34" charset="-120"/>
              </a:rPr>
              <a:t>A model that calls every mass benign is 62.7% accurate and catches no cancers.</a:t>
            </a:r>
            <a:endParaRPr lang="en-US" sz="16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7D"/>
                </a:solidFill>
                <a:latin typeface="DM Sans" pitchFamily="34" charset="0"/>
                <a:ea typeface="DM Sans" pitchFamily="34" charset="-122"/>
                <a:cs typeface="DM Sans" pitchFamily="34" charset="-120"/>
              </a:rPr>
              <a:t>Source: Wisconsin Diagnostic Breast Cancer dataset</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67D"/>
                </a:solidFill>
                <a:latin typeface="DM Sans" pitchFamily="34" charset="0"/>
                <a:ea typeface="DM Sans" pitchFamily="34" charset="-122"/>
                <a:cs typeface="DM Sans" pitchFamily="34" charset="-120"/>
              </a:rPr>
              <a:t>2 / 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5D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B2A33"/>
                </a:solidFill>
                <a:latin typeface="EB Garamond" pitchFamily="18" charset="0"/>
                <a:ea typeface="EB Garamond" pitchFamily="18" charset="-122"/>
                <a:cs typeface="EB Garamond" pitchFamily="18" charset="-120"/>
              </a:rPr>
              <a:t>The Models: four classifiers, same test set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480"/>
          <a:ext cx="6464300" cy="2541389"/>
        </p:xfrm>
        <a:graphic>
          <a:graphicData uri="http://schemas.openxmlformats.org/drawingml/2006/table">
            <a:tbl>
              <a:tblPr/>
              <a:tblGrid>
                <a:gridCol w="1647763"/>
                <a:gridCol w="1204134"/>
                <a:gridCol w="1204134"/>
                <a:gridCol w="1204134"/>
                <a:gridCol w="1204134"/>
              </a:tblGrid>
              <a:tr h="545902">
                <a:tc>
                  <a:txBody>
                    <a:bodyPr/>
                    <a:lstStyle/>
                    <a:p>
                      <a:pPr indent="0" marL="0">
                        <a:lnSpc>
                          <a:spcPts val="1680"/>
                        </a:lnSpc>
                        <a:buNone/>
                      </a:pPr>
                      <a:r>
                        <a:rPr lang="en-US" sz="1200" b="1" dirty="0">
                          <a:solidFill>
                            <a:srgbClr val="1B2A33"/>
                          </a:solidFill>
                          <a:latin typeface="DM Sans" pitchFamily="34" charset="0"/>
                          <a:ea typeface="DM Sans" pitchFamily="34" charset="-122"/>
                          <a:cs typeface="DM Sans" pitchFamily="34" charset="-120"/>
                        </a:rPr>
                        <a:t>Metric</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Logistic Regression</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LDA</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QDA</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c>
                  <a:txBody>
                    <a:bodyPr/>
                    <a:lstStyle/>
                    <a:p>
                      <a:pPr algn="ctr" indent="0" marL="0">
                        <a:lnSpc>
                          <a:spcPts val="1680"/>
                        </a:lnSpc>
                        <a:buNone/>
                      </a:pPr>
                      <a:r>
                        <a:rPr lang="en-US" sz="1200" b="1" dirty="0">
                          <a:solidFill>
                            <a:srgbClr val="1B2A33"/>
                          </a:solidFill>
                          <a:latin typeface="DM Sans" pitchFamily="34" charset="0"/>
                          <a:ea typeface="DM Sans" pitchFamily="34" charset="-122"/>
                          <a:cs typeface="DM Sans" pitchFamily="34" charset="-120"/>
                        </a:rPr>
                        <a:t>KNN (K=3)</a:t>
                      </a:r>
                      <a:endParaRPr lang="en-US" sz="1200" dirty="0">
                        <a:latin typeface="DM Sans" charset="0"/>
                        <a:ea typeface="DM Sans" charset="0"/>
                        <a:cs typeface="DM Sans" charset="0"/>
                      </a:endParaRPr>
                    </a:p>
                  </a:txBody>
                  <a:tcPr marL="53340" marR="53340" marT="53340" marB="53340" anchor="t">
                    <a:lnL w="12700" cap="flat" cmpd="sng" algn="ctr">
                      <a:solidFill>
                        <a:srgbClr val="AEAAA0"/>
                      </a:solidFill>
                      <a:prstDash val="solid"/>
                      <a:round/>
                      <a:headEnd type="none" w="med" len="med"/>
                      <a:tailEnd type="none" w="med" len="med"/>
                    </a:lnL>
                    <a:lnR w="12700" cap="flat" cmpd="sng" algn="ctr">
                      <a:solidFill>
                        <a:srgbClr val="AEAAA0"/>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AEAAA0"/>
                      </a:solidFill>
                      <a:prstDash val="solid"/>
                      <a:round/>
                      <a:headEnd type="none" w="med" len="med"/>
                      <a:tailEnd type="none" w="med" len="med"/>
                    </a:lnB>
                    <a:solidFill>
                      <a:srgbClr val="D9D4C8"/>
                    </a:solidFill>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Accuracy</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0.9650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0.9650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0.9441</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0.9580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AEAAA0"/>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Precision</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0.9800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0.9592</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Recall</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0.9245</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0.9057</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0.8868</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0.8868</a:t>
                      </a:r>
                      <a:endParaRPr lang="en-US" sz="1200" dirty="0">
                        <a:latin typeface="DM Sans" charset="0"/>
                        <a:ea typeface="DM Sans" charset="0"/>
                        <a:cs typeface="DM Sans" charset="0"/>
                      </a:endParaRPr>
                    </a:p>
                  </a:txBody>
                  <a:tcPr marL="53340" marR="53340" marT="53340" marB="53340" anchor="t">
                    <a:lnL w="12700" cap="flat" cmpd="sng" algn="ctr">
                      <a:solidFill>
                        <a:srgbClr val="C1A1A6"/>
                      </a:solidFill>
                      <a:prstDash val="solid"/>
                      <a:round/>
                      <a:headEnd type="none" w="med" len="med"/>
                      <a:tailEnd type="none" w="med" len="med"/>
                    </a:lnL>
                    <a:lnR w="12700" cap="flat" cmpd="sng" algn="ctr">
                      <a:solidFill>
                        <a:srgbClr val="C1A1A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C1A1A6"/>
                      </a:solidFill>
                      <a:prstDash val="solid"/>
                      <a:round/>
                      <a:headEnd type="none" w="med" len="med"/>
                      <a:tailEnd type="none" w="med" len="med"/>
                    </a:lnB>
                    <a:solidFill>
                      <a:srgbClr val="F2C9CF"/>
                    </a:solidFill>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Specificity</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0.9889</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0.9778</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1.0000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C1A1A6"/>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F1</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0.9515</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0.9505</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0.9216</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0.9400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3"/>
                          </a:solidFill>
                          <a:latin typeface="DM Sans" pitchFamily="34" charset="0"/>
                          <a:ea typeface="DM Sans" pitchFamily="34" charset="-122"/>
                          <a:cs typeface="DM Sans" pitchFamily="34" charset="-120"/>
                        </a:rPr>
                        <a:t>ROC-AUC</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0.9962</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0.9960</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0.9945</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c>
                  <a:txBody>
                    <a:bodyPr/>
                    <a:lstStyle/>
                    <a:p>
                      <a:pPr algn="ctr" indent="0" marL="0">
                        <a:lnSpc>
                          <a:spcPts val="1680"/>
                        </a:lnSpc>
                        <a:buNone/>
                      </a:pPr>
                      <a:r>
                        <a:rPr lang="en-US" sz="1200" dirty="0">
                          <a:solidFill>
                            <a:srgbClr val="1B2A33"/>
                          </a:solidFill>
                          <a:latin typeface="DM Sans" pitchFamily="34" charset="0"/>
                          <a:ea typeface="DM Sans" pitchFamily="34" charset="-122"/>
                          <a:cs typeface="DM Sans" pitchFamily="34" charset="-120"/>
                        </a:rPr>
                        <a:t>0.9881</a:t>
                      </a:r>
                      <a:endParaRPr lang="en-US" sz="1200" dirty="0">
                        <a:latin typeface="DM Sans" charset="0"/>
                        <a:ea typeface="DM Sans" charset="0"/>
                        <a:cs typeface="DM Sans" charset="0"/>
                      </a:endParaRPr>
                    </a:p>
                  </a:txBody>
                  <a:tcPr marL="53340" marR="53340" marT="53340" marB="53340" anchor="t">
                    <a:lnL w="12700" cap="flat" cmpd="sng" algn="ctr">
                      <a:solidFill>
                        <a:srgbClr val="BBB7AD"/>
                      </a:solidFill>
                      <a:prstDash val="solid"/>
                      <a:round/>
                      <a:headEnd type="none" w="med" len="med"/>
                      <a:tailEnd type="none" w="med" len="med"/>
                    </a:lnL>
                    <a:lnR w="12700" cap="flat" cmpd="sng" algn="ctr">
                      <a:solidFill>
                        <a:srgbClr val="BBB7AD"/>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BBB7AD"/>
                      </a:solidFill>
                      <a:prstDash val="solid"/>
                      <a:round/>
                      <a:headEnd type="none" w="med" len="med"/>
                      <a:tailEnd type="none" w="med" len="med"/>
                    </a:lnB>
                  </a:tcPr>
                </a:tc>
              </a:tr>
            </a:tbl>
          </a:graphicData>
        </a:graphic>
      </p:graphicFrame>
      <p:sp>
        <p:nvSpPr>
          <p:cNvPr id="4" name="Text 1"/>
          <p:cNvSpPr/>
          <p:nvPr/>
        </p:nvSpPr>
        <p:spPr>
          <a:xfrm>
            <a:off x="812800" y="4220270"/>
            <a:ext cx="667131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3"/>
                </a:solidFill>
                <a:latin typeface="DM Sans" pitchFamily="34" charset="0"/>
                <a:ea typeface="DM Sans" pitchFamily="34" charset="-122"/>
                <a:cs typeface="DM Sans" pitchFamily="34" charset="-120"/>
              </a:rPr>
              <a:t>Logistic regression and LDA tie on accuracy, but logistic regression misses 4 cancers and LDA misses 5. Recall is the row that separates them.</a:t>
            </a:r>
            <a:endParaRPr lang="en-US" sz="1600" dirty="0"/>
          </a:p>
        </p:txBody>
      </p:sp>
      <p:sp>
        <p:nvSpPr>
          <p:cNvPr id="5" name="Text 2"/>
          <p:cNvSpPr/>
          <p:nvPr/>
        </p:nvSpPr>
        <p:spPr>
          <a:xfrm>
            <a:off x="7696200" y="1513780"/>
            <a:ext cx="379349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961"/>
                </a:solidFill>
                <a:latin typeface="DM Sans" pitchFamily="34" charset="0"/>
                <a:ea typeface="DM Sans" pitchFamily="34" charset="-122"/>
                <a:cs typeface="DM Sans" pitchFamily="34" charset="-120"/>
              </a:rPr>
              <a:t>ROC CURVES, TEST SET</a:t>
            </a:r>
            <a:endParaRPr lang="en-US" sz="1200" dirty="0"/>
          </a:p>
        </p:txBody>
      </p:sp>
      <p:pic>
        <p:nvPicPr>
          <p:cNvPr id="6" name="Image 0" descr="ROC curves for the four classifiers. Logistic regression, LDA and QDA hug the top-left corner. KNN is more angular.">    </p:cNvPr>
          <p:cNvPicPr>
            <a:picLocks noChangeAspect="1"/>
          </p:cNvPicPr>
          <p:nvPr/>
        </p:nvPicPr>
        <p:blipFill>
          <a:blip r:embed="rId1"/>
          <a:srcRect l="0" r="0" t="0" b="0"/>
          <a:stretch/>
        </p:blipFill>
        <p:spPr>
          <a:xfrm>
            <a:off x="7696200" y="1803301"/>
            <a:ext cx="2667000" cy="2667000"/>
          </a:xfrm>
          <a:prstGeom prst="rect">
            <a:avLst/>
          </a:prstGeom>
        </p:spPr>
      </p:pic>
      <p:sp>
        <p:nvSpPr>
          <p:cNvPr id="7" name="Shape 3"/>
          <p:cNvSpPr/>
          <p:nvPr/>
        </p:nvSpPr>
        <p:spPr>
          <a:xfrm>
            <a:off x="7696200" y="4627761"/>
            <a:ext cx="177800" cy="50800"/>
          </a:xfrm>
          <a:prstGeom prst="rect">
            <a:avLst/>
          </a:prstGeom>
          <a:solidFill>
            <a:srgbClr val="C23B4E"/>
          </a:solidFill>
          <a:ln/>
        </p:spPr>
      </p:sp>
      <p:sp>
        <p:nvSpPr>
          <p:cNvPr id="8" name="Text 4"/>
          <p:cNvSpPr/>
          <p:nvPr/>
        </p:nvSpPr>
        <p:spPr>
          <a:xfrm>
            <a:off x="7950200" y="4546501"/>
            <a:ext cx="27083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33"/>
                </a:solidFill>
                <a:latin typeface="DM Sans" pitchFamily="34" charset="0"/>
                <a:ea typeface="DM Sans" pitchFamily="34" charset="-122"/>
                <a:cs typeface="DM Sans" pitchFamily="34" charset="-120"/>
              </a:rPr>
              <a:t>Logistic Regression, AUC 0.9962</a:t>
            </a:r>
            <a:endParaRPr lang="en-US" sz="1200" dirty="0"/>
          </a:p>
        </p:txBody>
      </p:sp>
      <p:sp>
        <p:nvSpPr>
          <p:cNvPr id="9" name="Shape 5"/>
          <p:cNvSpPr/>
          <p:nvPr/>
        </p:nvSpPr>
        <p:spPr>
          <a:xfrm>
            <a:off x="7696200" y="4879181"/>
            <a:ext cx="177800" cy="50800"/>
          </a:xfrm>
          <a:prstGeom prst="rect">
            <a:avLst/>
          </a:prstGeom>
          <a:solidFill>
            <a:srgbClr val="1F7A8C"/>
          </a:solidFill>
          <a:ln/>
        </p:spPr>
      </p:sp>
      <p:sp>
        <p:nvSpPr>
          <p:cNvPr id="10" name="Text 6"/>
          <p:cNvSpPr/>
          <p:nvPr/>
        </p:nvSpPr>
        <p:spPr>
          <a:xfrm>
            <a:off x="7950200" y="4797921"/>
            <a:ext cx="14500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33"/>
                </a:solidFill>
                <a:latin typeface="DM Sans" pitchFamily="34" charset="0"/>
                <a:ea typeface="DM Sans" pitchFamily="34" charset="-122"/>
                <a:cs typeface="DM Sans" pitchFamily="34" charset="-120"/>
              </a:rPr>
              <a:t>LDA, AUC 0.9960</a:t>
            </a:r>
            <a:endParaRPr lang="en-US" sz="1200" dirty="0"/>
          </a:p>
        </p:txBody>
      </p:sp>
      <p:sp>
        <p:nvSpPr>
          <p:cNvPr id="11" name="Shape 7"/>
          <p:cNvSpPr/>
          <p:nvPr/>
        </p:nvSpPr>
        <p:spPr>
          <a:xfrm>
            <a:off x="7696200" y="5130602"/>
            <a:ext cx="177800" cy="50800"/>
          </a:xfrm>
          <a:prstGeom prst="rect">
            <a:avLst/>
          </a:prstGeom>
          <a:solidFill>
            <a:srgbClr val="B07A00"/>
          </a:solidFill>
          <a:ln/>
        </p:spPr>
      </p:sp>
      <p:sp>
        <p:nvSpPr>
          <p:cNvPr id="12" name="Text 8"/>
          <p:cNvSpPr/>
          <p:nvPr/>
        </p:nvSpPr>
        <p:spPr>
          <a:xfrm>
            <a:off x="7950200" y="5049341"/>
            <a:ext cx="14779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33"/>
                </a:solidFill>
                <a:latin typeface="DM Sans" pitchFamily="34" charset="0"/>
                <a:ea typeface="DM Sans" pitchFamily="34" charset="-122"/>
                <a:cs typeface="DM Sans" pitchFamily="34" charset="-120"/>
              </a:rPr>
              <a:t>QDA, AUC 0.9945</a:t>
            </a:r>
            <a:endParaRPr lang="en-US" sz="1200" dirty="0"/>
          </a:p>
        </p:txBody>
      </p:sp>
      <p:sp>
        <p:nvSpPr>
          <p:cNvPr id="13" name="Shape 9"/>
          <p:cNvSpPr/>
          <p:nvPr/>
        </p:nvSpPr>
        <p:spPr>
          <a:xfrm>
            <a:off x="7696200" y="5382022"/>
            <a:ext cx="177800" cy="50800"/>
          </a:xfrm>
          <a:prstGeom prst="rect">
            <a:avLst/>
          </a:prstGeom>
          <a:solidFill>
            <a:srgbClr val="5C6770"/>
          </a:solidFill>
          <a:ln/>
        </p:spPr>
      </p:sp>
      <p:sp>
        <p:nvSpPr>
          <p:cNvPr id="14" name="Text 10"/>
          <p:cNvSpPr/>
          <p:nvPr/>
        </p:nvSpPr>
        <p:spPr>
          <a:xfrm>
            <a:off x="7950200" y="5300762"/>
            <a:ext cx="13930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A33"/>
                </a:solidFill>
                <a:latin typeface="DM Sans" pitchFamily="34" charset="0"/>
                <a:ea typeface="DM Sans" pitchFamily="34" charset="-122"/>
                <a:cs typeface="DM Sans" pitchFamily="34" charset="-120"/>
              </a:rPr>
              <a:t>KNN, AUC 0.9881</a:t>
            </a:r>
            <a:endParaRPr lang="en-US" sz="1200" dirty="0"/>
          </a:p>
        </p:txBody>
      </p:sp>
      <p:sp>
        <p:nvSpPr>
          <p:cNvPr id="15"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66D"/>
                </a:solidFill>
                <a:latin typeface="DM Sans" pitchFamily="34" charset="0"/>
                <a:ea typeface="DM Sans" pitchFamily="34" charset="-122"/>
                <a:cs typeface="DM Sans" pitchFamily="34" charset="-120"/>
              </a:rPr>
              <a:t>All metrics on the 143 test masses at a 0.50 threshold</a:t>
            </a:r>
            <a:endParaRPr lang="en-US" sz="1200" dirty="0"/>
          </a:p>
        </p:txBody>
      </p:sp>
      <p:sp>
        <p:nvSpPr>
          <p:cNvPr id="16"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66D"/>
                </a:solidFill>
                <a:latin typeface="DM Sans" pitchFamily="34" charset="0"/>
                <a:ea typeface="DM Sans" pitchFamily="34" charset="-122"/>
                <a:cs typeface="DM Sans" pitchFamily="34" charset="-120"/>
              </a:rPr>
              <a:t>3 / 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22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5F2EA"/>
                </a:solidFill>
                <a:latin typeface="EB Garamond" pitchFamily="18" charset="0"/>
                <a:ea typeface="EB Garamond" pitchFamily="18" charset="-122"/>
                <a:cs typeface="EB Garamond" pitchFamily="18" charset="-120"/>
              </a:rPr>
              <a:t>The Decision: logistic regression, threshold 0.30</a:t>
            </a:r>
            <a:endParaRPr lang="en-US" sz="3200" dirty="0"/>
          </a:p>
        </p:txBody>
      </p:sp>
      <p:sp>
        <p:nvSpPr>
          <p:cNvPr id="3" name="Shape 1"/>
          <p:cNvSpPr/>
          <p:nvPr/>
        </p:nvSpPr>
        <p:spPr>
          <a:xfrm>
            <a:off x="812800" y="1564580"/>
            <a:ext cx="3386634" cy="1742380"/>
          </a:xfrm>
          <a:prstGeom prst="roundRect">
            <a:avLst>
              <a:gd name="adj" fmla="val 5831"/>
            </a:avLst>
          </a:prstGeom>
          <a:solidFill>
            <a:srgbClr val="1B3342"/>
          </a:solidFill>
          <a:ln/>
        </p:spPr>
      </p:sp>
      <p:sp>
        <p:nvSpPr>
          <p:cNvPr id="4" name="Text 2"/>
          <p:cNvSpPr/>
          <p:nvPr/>
        </p:nvSpPr>
        <p:spPr>
          <a:xfrm>
            <a:off x="1066800" y="1818580"/>
            <a:ext cx="2964993"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7FD1DE"/>
                </a:solidFill>
                <a:latin typeface="EB Garamond" pitchFamily="18" charset="0"/>
                <a:ea typeface="EB Garamond" pitchFamily="18" charset="-122"/>
                <a:cs typeface="EB Garamond" pitchFamily="18" charset="-120"/>
              </a:rPr>
              <a:t>51 of 53</a:t>
            </a:r>
            <a:endParaRPr lang="en-US" sz="4400" dirty="0"/>
          </a:p>
        </p:txBody>
      </p:sp>
      <p:sp>
        <p:nvSpPr>
          <p:cNvPr id="5" name="Text 3"/>
          <p:cNvSpPr/>
          <p:nvPr/>
        </p:nvSpPr>
        <p:spPr>
          <a:xfrm>
            <a:off x="1066800" y="2484041"/>
            <a:ext cx="296499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cancers caught, a recall of 0.962</a:t>
            </a:r>
            <a:endParaRPr lang="en-US" sz="1600" dirty="0"/>
          </a:p>
        </p:txBody>
      </p:sp>
      <p:sp>
        <p:nvSpPr>
          <p:cNvPr id="6" name="Shape 4"/>
          <p:cNvSpPr/>
          <p:nvPr/>
        </p:nvSpPr>
        <p:spPr>
          <a:xfrm>
            <a:off x="4402634" y="1564580"/>
            <a:ext cx="3386733" cy="1742380"/>
          </a:xfrm>
          <a:prstGeom prst="roundRect">
            <a:avLst>
              <a:gd name="adj" fmla="val 5831"/>
            </a:avLst>
          </a:prstGeom>
          <a:solidFill>
            <a:srgbClr val="1B3342"/>
          </a:solidFill>
          <a:ln/>
        </p:spPr>
      </p:sp>
      <p:sp>
        <p:nvSpPr>
          <p:cNvPr id="7" name="Text 5"/>
          <p:cNvSpPr/>
          <p:nvPr/>
        </p:nvSpPr>
        <p:spPr>
          <a:xfrm>
            <a:off x="4656634" y="1818580"/>
            <a:ext cx="2965095"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F9AA2"/>
                </a:solidFill>
                <a:latin typeface="EB Garamond" pitchFamily="18" charset="0"/>
                <a:ea typeface="EB Garamond" pitchFamily="18" charset="-122"/>
                <a:cs typeface="EB Garamond" pitchFamily="18" charset="-120"/>
              </a:rPr>
              <a:t>2</a:t>
            </a:r>
            <a:endParaRPr lang="en-US" sz="4400" dirty="0"/>
          </a:p>
        </p:txBody>
      </p:sp>
      <p:sp>
        <p:nvSpPr>
          <p:cNvPr id="8" name="Text 6"/>
          <p:cNvSpPr/>
          <p:nvPr/>
        </p:nvSpPr>
        <p:spPr>
          <a:xfrm>
            <a:off x="4656634" y="2484041"/>
            <a:ext cx="2965095"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cancers missed, down from 4 at the 0.50 threshold</a:t>
            </a:r>
            <a:endParaRPr lang="en-US" sz="1600" dirty="0"/>
          </a:p>
        </p:txBody>
      </p:sp>
      <p:sp>
        <p:nvSpPr>
          <p:cNvPr id="9" name="Shape 7"/>
          <p:cNvSpPr/>
          <p:nvPr/>
        </p:nvSpPr>
        <p:spPr>
          <a:xfrm>
            <a:off x="7992566" y="1564580"/>
            <a:ext cx="3386634" cy="1742380"/>
          </a:xfrm>
          <a:prstGeom prst="roundRect">
            <a:avLst>
              <a:gd name="adj" fmla="val 5831"/>
            </a:avLst>
          </a:prstGeom>
          <a:solidFill>
            <a:srgbClr val="1B3342"/>
          </a:solidFill>
          <a:ln/>
        </p:spPr>
      </p:sp>
      <p:sp>
        <p:nvSpPr>
          <p:cNvPr id="10" name="Text 8"/>
          <p:cNvSpPr/>
          <p:nvPr/>
        </p:nvSpPr>
        <p:spPr>
          <a:xfrm>
            <a:off x="8246566" y="1818580"/>
            <a:ext cx="2964993"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5F2EA"/>
                </a:solidFill>
                <a:latin typeface="EB Garamond" pitchFamily="18" charset="0"/>
                <a:ea typeface="EB Garamond" pitchFamily="18" charset="-122"/>
                <a:cs typeface="EB Garamond" pitchFamily="18" charset="-120"/>
              </a:rPr>
              <a:t>1</a:t>
            </a:r>
            <a:endParaRPr lang="en-US" sz="4400" dirty="0"/>
          </a:p>
        </p:txBody>
      </p:sp>
      <p:sp>
        <p:nvSpPr>
          <p:cNvPr id="11" name="Text 9"/>
          <p:cNvSpPr/>
          <p:nvPr/>
        </p:nvSpPr>
        <p:spPr>
          <a:xfrm>
            <a:off x="8246566" y="2484041"/>
            <a:ext cx="296499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false alarm among 90 benign masses</a:t>
            </a:r>
            <a:endParaRPr lang="en-US" sz="1600" dirty="0"/>
          </a:p>
        </p:txBody>
      </p:sp>
      <p:sp>
        <p:nvSpPr>
          <p:cNvPr id="12" name="Text 10"/>
          <p:cNvSpPr/>
          <p:nvPr/>
        </p:nvSpPr>
        <p:spPr>
          <a:xfrm>
            <a:off x="812800" y="3611761"/>
            <a:ext cx="52324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FD1DE"/>
                </a:solidFill>
                <a:latin typeface="DM Sans" pitchFamily="34" charset="0"/>
                <a:ea typeface="DM Sans" pitchFamily="34" charset="-122"/>
                <a:cs typeface="DM Sans" pitchFamily="34" charset="-120"/>
              </a:rPr>
              <a:t>Why this model</a:t>
            </a:r>
            <a:endParaRPr lang="en-US" sz="1600" dirty="0"/>
          </a:p>
        </p:txBody>
      </p:sp>
      <p:sp>
        <p:nvSpPr>
          <p:cNvPr id="13" name="Text 11"/>
          <p:cNvSpPr/>
          <p:nvPr/>
        </p:nvSpPr>
        <p:spPr>
          <a:xfrm>
            <a:off x="812800" y="3931741"/>
            <a:ext cx="5232400"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Recall drove the choice, because a missed cancer costs far more than an extra biopsy. Logistic regression caught the most cancers and ranked masses best. Lowering the threshold to 0.30 caught two more with no new false alarms.</a:t>
            </a:r>
            <a:endParaRPr lang="en-US" sz="1600" dirty="0"/>
          </a:p>
        </p:txBody>
      </p:sp>
      <p:sp>
        <p:nvSpPr>
          <p:cNvPr id="14" name="Text 12"/>
          <p:cNvSpPr/>
          <p:nvPr/>
        </p:nvSpPr>
        <p:spPr>
          <a:xfrm>
            <a:off x="6299200" y="3611761"/>
            <a:ext cx="52324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9AA2"/>
                </a:solidFill>
                <a:latin typeface="DM Sans" pitchFamily="34" charset="0"/>
                <a:ea typeface="DM Sans" pitchFamily="34" charset="-122"/>
                <a:cs typeface="DM Sans" pitchFamily="34" charset="-120"/>
              </a:rPr>
              <a:t>Limitation</a:t>
            </a:r>
            <a:endParaRPr lang="en-US" sz="1600" dirty="0"/>
          </a:p>
        </p:txBody>
      </p:sp>
      <p:sp>
        <p:nvSpPr>
          <p:cNvPr id="15" name="Text 13"/>
          <p:cNvSpPr/>
          <p:nvPr/>
        </p:nvSpPr>
        <p:spPr>
          <a:xfrm>
            <a:off x="6299200" y="3931741"/>
            <a:ext cx="523240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5DEE3"/>
                </a:solidFill>
                <a:latin typeface="DM Sans" pitchFamily="34" charset="0"/>
                <a:ea typeface="DM Sans" pitchFamily="34" charset="-122"/>
                <a:cs typeface="DM Sans" pitchFamily="34" charset="-120"/>
              </a:rPr>
              <a:t>The test set has only 53 malignant masses, and one patient is all that separates logistic regression from LDA. The ranking is a good sign, not a settled result.</a:t>
            </a:r>
            <a:endParaRPr lang="en-US" sz="16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BB"/>
                </a:solidFill>
                <a:latin typeface="DM Sans" pitchFamily="34" charset="0"/>
                <a:ea typeface="DM Sans" pitchFamily="34" charset="-122"/>
                <a:cs typeface="DM Sans" pitchFamily="34" charset="-120"/>
              </a:rPr>
              <a:t>Results on the 143 test masses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BB"/>
                </a:solidFill>
                <a:latin typeface="DM Sans" pitchFamily="34" charset="0"/>
                <a:ea typeface="DM Sans" pitchFamily="34" charset="-122"/>
                <a:cs typeface="DM Sans" pitchFamily="34" charset="-120"/>
              </a:rPr>
              <a:t>4 / 4</a:t>
            </a:r>
            <a:endParaRPr lang="en-US" sz="1200" dirty="0"/>
          </a:p>
        </p:txBody>
      </p:sp>
    </p:spTree>
  </p:cSld>
  <p:clrMapOvr>
    <a:masterClrMapping/>
  </p:clrMapOvr>
</p:sld>
</file>

<file path=ppt/theme/theme1.xml><?xml version="1.0" encoding="utf-8"?>
<a:theme xmlns:a="http://schemas.openxmlformats.org/drawingml/2006/main" name="Model Pitch - Breast Mass Classification">
  <a:themeElements>
    <a:clrScheme name="Model Pitch - Breast Mass Classification">
      <a:dk1>
        <a:srgbClr val="11222E"/>
      </a:dk1>
      <a:lt1>
        <a:srgbClr val="F5F2EA"/>
      </a:lt1>
      <a:dk2>
        <a:srgbClr val="283741"/>
      </a:dk2>
      <a:lt2>
        <a:srgbClr val="BCBEBB"/>
      </a:lt2>
      <a:accent1>
        <a:srgbClr val="7FD1DE"/>
      </a:accent1>
      <a:accent2>
        <a:srgbClr val="FF9AA2"/>
      </a:accent2>
      <a:accent3>
        <a:srgbClr val="1F7A8C"/>
      </a:accent3>
      <a:accent4>
        <a:srgbClr val="C23B4E"/>
      </a:accent4>
      <a:accent5>
        <a:srgbClr val="B07A00"/>
      </a:accent5>
      <a:accent6>
        <a:srgbClr val="D5DEE3"/>
      </a:accent6>
      <a:hlink>
        <a:srgbClr val="0563C1"/>
      </a:hlink>
      <a:folHlink>
        <a:srgbClr val="954F72"/>
      </a:folHlink>
    </a:clrScheme>
    <a:fontScheme name="Model Pitch - Breast Mass Classification">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Pitch - Breast Mass Classification</dc:title>
  <dc:subject/>
  <dc:creator/>
  <cp:lastModifiedBy/>
  <cp:revision>1</cp:revision>
  <dcterms:created xsi:type="dcterms:W3CDTF">2026-10-18T17:34:25Z</dcterms:created>
  <dcterms:modified xsi:type="dcterms:W3CDTF">2026-10-18T17:34:25Z</dcterms:modified>
</cp:coreProperties>
</file>